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5029200" cy="420624"/>
          </a:xfrm>
          <a:prstGeom prst="roundRect">
            <a:avLst>
              <a:gd name="adj" fmla="val 50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E8A819"/>
                </a:solidFill>
                <a:latin typeface="Calibri"/>
              </a:rPr>
              <a:t>AVFinal · UniCEUB · Introdução à Computação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515600" cy="1097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OpenBox </a:t>
            </a:r>
            <a:r>
              <a:rPr sz="5400" b="1" i="0">
                <a:solidFill>
                  <a:srgbClr val="1F9E75"/>
                </a:solidFill>
                <a:latin typeface="Cambria"/>
              </a:rPr>
              <a:t>v0.2.0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Plataforma de borda com privacidade auditável, hardening e monitoramento integrado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1175004" cy="365760"/>
          </a:xfrm>
          <a:prstGeom prst="roundRect">
            <a:avLst>
              <a:gd name="adj" fmla="val 50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CADCFC"/>
                </a:solidFill>
                <a:latin typeface="Calibri"/>
              </a:rPr>
              <a:t>WireGuard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5395" y="3154680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CADCFC"/>
                </a:solidFill>
                <a:latin typeface="Calibri"/>
              </a:rPr>
              <a:t>nftables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8979" y="3154680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CADCFC"/>
                </a:solidFill>
                <a:latin typeface="Calibri"/>
              </a:rPr>
              <a:t>DNSCrypt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2564" y="3154680"/>
            <a:ext cx="982980" cy="365760"/>
          </a:xfrm>
          <a:prstGeom prst="roundRect">
            <a:avLst>
              <a:gd name="adj" fmla="val 50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CADCFC"/>
                </a:solidFill>
                <a:latin typeface="Calibri"/>
              </a:rPr>
              <a:t>Pi-hole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0136" y="3154680"/>
            <a:ext cx="982980" cy="365760"/>
          </a:xfrm>
          <a:prstGeom prst="roundRect">
            <a:avLst>
              <a:gd name="adj" fmla="val 50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CADCFC"/>
                </a:solidFill>
                <a:latin typeface="Calibri"/>
              </a:rPr>
              <a:t>Unbound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07707" y="3154680"/>
            <a:ext cx="598932" cy="365760"/>
          </a:xfrm>
          <a:prstGeom prst="roundRect">
            <a:avLst>
              <a:gd name="adj" fmla="val 50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CADCFC"/>
                </a:solidFill>
                <a:latin typeface="Calibri"/>
              </a:rPr>
              <a:t>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1231" y="3154680"/>
            <a:ext cx="982980" cy="365760"/>
          </a:xfrm>
          <a:prstGeom prst="roundRect">
            <a:avLst>
              <a:gd name="adj" fmla="val 50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0">
                <a:solidFill>
                  <a:srgbClr val="CADCFC"/>
                </a:solidFill>
                <a:latin typeface="Calibri"/>
              </a:rPr>
              <a:t>ADV7Sec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3795331"/>
            <a:ext cx="11091672" cy="251345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1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23347"/>
            <a:ext cx="10835640" cy="22574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6355080"/>
            <a:ext cx="1083564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0A4BA"/>
                </a:solidFill>
                <a:latin typeface="Calibri"/>
              </a:rPr>
              <a:t>Alcides Olivo Pollazzon Soterio   ·   Brasília–DF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O que vamos percorrer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20240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95681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Problema e contexto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06624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24912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7432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Estudo de caso: TV box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93008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5295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Linha do tempo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79392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97679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3159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Arquitetura de borda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065776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84064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5102352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Fluxo de tráfego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1920240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1938528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195681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Modelo de ameaça e risco</a:t>
            </a:r>
          </a:p>
        </p:txBody>
      </p:sp>
      <p:sp>
        <p:nvSpPr>
          <p:cNvPr id="24" name="Oval 23"/>
          <p:cNvSpPr/>
          <p:nvPr/>
        </p:nvSpPr>
        <p:spPr>
          <a:xfrm>
            <a:off x="4160520" y="2706624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2724912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27432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Plano de hardening</a:t>
            </a:r>
          </a:p>
        </p:txBody>
      </p:sp>
      <p:sp>
        <p:nvSpPr>
          <p:cNvPr id="27" name="Oval 26"/>
          <p:cNvSpPr/>
          <p:nvPr/>
        </p:nvSpPr>
        <p:spPr>
          <a:xfrm>
            <a:off x="4160520" y="3493008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3511296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35295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ADV7Sec — detecção</a:t>
            </a:r>
          </a:p>
        </p:txBody>
      </p:sp>
      <p:sp>
        <p:nvSpPr>
          <p:cNvPr id="30" name="Oval 29"/>
          <p:cNvSpPr/>
          <p:nvPr/>
        </p:nvSpPr>
        <p:spPr>
          <a:xfrm>
            <a:off x="4160520" y="4279392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4297679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43159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Runbook e evidências</a:t>
            </a:r>
          </a:p>
        </p:txBody>
      </p:sp>
      <p:sp>
        <p:nvSpPr>
          <p:cNvPr id="33" name="Oval 32"/>
          <p:cNvSpPr/>
          <p:nvPr/>
        </p:nvSpPr>
        <p:spPr>
          <a:xfrm>
            <a:off x="4160520" y="5065776"/>
            <a:ext cx="475488" cy="475488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5084064"/>
            <a:ext cx="475488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5102352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32E"/>
                </a:solidFill>
                <a:latin typeface="Calibri"/>
              </a:rPr>
              <a:t>Conclusão e carreira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80" y="2304288"/>
            <a:ext cx="3931920" cy="243230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thumb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395728"/>
            <a:ext cx="3749039" cy="224942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18120" y="4983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B7A8C"/>
                </a:solidFill>
                <a:latin typeface="Calibri"/>
              </a:rPr>
              <a:t>Da ameaça de fábrica à borda auditável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978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A819"/>
                </a:solidFill>
                <a:latin typeface="Calibri"/>
              </a:rPr>
              <a:t>+ Anexo técnico  </a:t>
            </a:r>
            <a:r>
              <a:rPr sz="1250" b="0" i="0">
                <a:solidFill>
                  <a:srgbClr val="6B7A8C"/>
                </a:solidFill>
                <a:latin typeface="Calibri"/>
              </a:rPr>
              <a:t>teardown de hardware (R3290_V8.1) e fase de flash/SSH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Dois vetores de risco no lar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8C"/>
                </a:solidFill>
                <a:latin typeface="Calibri"/>
              </a:rPr>
              <a:t>TV boxes genéricas saem de fábrica com firmware potencialmente comprometido; a workstation de desenvolvimento opera sem trilha forense. São problemas independentes.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5212080" cy="14173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825496"/>
            <a:ext cx="512064" cy="512064"/>
          </a:xfrm>
          <a:prstGeom prst="ellipse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0360"/>
            <a:ext cx="512064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807208"/>
            <a:ext cx="425196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32E"/>
                </a:solidFill>
                <a:latin typeface="Calibri"/>
              </a:rPr>
              <a:t>Borda (rede doméstica)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172968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DNS em texto claro pelo ISP; VPN sem kill switch — qualquer queda reintroduz o perfil bruto de tráfego.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606040"/>
            <a:ext cx="5212080" cy="14173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9672" y="2825496"/>
            <a:ext cx="512064" cy="512064"/>
          </a:xfrm>
          <a:prstGeom prst="ellipse">
            <a:avLst/>
          </a:prstGeom>
          <a:solidFill>
            <a:srgbClr val="8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880360"/>
            <a:ext cx="512064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2807208"/>
            <a:ext cx="425196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32E"/>
                </a:solidFill>
                <a:latin typeface="Calibri"/>
              </a:rPr>
              <a:t>Endpoint (workstation)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3172968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Sem baseline de integridade e sem alerta comportamental; o primeiro sinal de comprometimento costuma ser tardio.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329184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8A1F3D"/>
                </a:solidFill>
                <a:latin typeface="Cambria"/>
              </a:rPr>
              <a:t>10M+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017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dispositivos infectados — BadBox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8A1F3D"/>
                </a:solidFill>
                <a:latin typeface="Cambria"/>
              </a:rPr>
              <a:t>1.3M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0017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caixas Vo1d — Brasil é o nº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434840"/>
            <a:ext cx="329184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F9E75"/>
                </a:solidFill>
                <a:latin typeface="Cambria"/>
              </a:rPr>
              <a:t>200–400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0017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R$/mês em assinaturas substituíveis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32120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0704" y="5815583"/>
            <a:ext cx="146304" cy="146304"/>
          </a:xfrm>
          <a:prstGeom prst="ellipse">
            <a:avLst/>
          </a:prstGeom>
          <a:solidFill>
            <a:srgbClr val="1F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5641848"/>
            <a:ext cx="9966959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9E75"/>
                </a:solidFill>
                <a:latin typeface="Calibri"/>
              </a:rPr>
              <a:t>Tese.  </a:t>
            </a:r>
            <a:r>
              <a:rPr sz="1150" b="0" i="0">
                <a:solidFill>
                  <a:srgbClr val="1A232E"/>
                </a:solidFill>
                <a:latin typeface="Calibri"/>
              </a:rPr>
              <a:t>Segurança tratada de forma sistêmica — hardware, SO, rede, monitoramento, integridade e resposta — não como “antivírus”.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ESTUDO DE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MXQ Pro 5G 4K — a ameaça de fábrica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20240"/>
          <a:ext cx="585216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29768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marL="73152" marR="45720" marT="27432" marB="27432" anchor="ctr">
                    <a:solidFill>
                      <a:srgbClr val="0C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Observação</a:t>
                      </a:r>
                    </a:p>
                  </a:txBody>
                  <a:tcPr marL="73152" marR="45720" marT="27432" marB="27432" anchor="ctr">
                    <a:solidFill>
                      <a:srgbClr val="0C22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SoC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Rockchip RK3229 (placa R29_5G_LP3)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Memória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1 GB LPDDR3 — tuning conservador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Ethernet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100 Mbps — coerente com o custo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Firmware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comprometido de fábrica em lotes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Risco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backdoor, OTA, ADB aberto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95160" y="1920240"/>
            <a:ext cx="4572000" cy="2240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1031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A1F3D"/>
                </a:solidFill>
                <a:latin typeface="Calibri"/>
              </a:rPr>
              <a:t>Cadeia de suprimento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532888"/>
            <a:ext cx="40690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A1F3D"/>
                </a:solidFill>
                <a:latin typeface="Calibri"/>
              </a:rPr>
              <a:t>▸ </a:t>
            </a:r>
            <a:r>
              <a:rPr sz="1150">
                <a:solidFill>
                  <a:srgbClr val="1A232E"/>
                </a:solidFill>
                <a:latin typeface="Calibri"/>
              </a:rPr>
              <a:t>BadBox 2.0 / Vo1d infectam o firmware antes da 1ª conexão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A1F3D"/>
                </a:solidFill>
                <a:latin typeface="Calibri"/>
              </a:rPr>
              <a:t>▸ </a:t>
            </a:r>
            <a:r>
              <a:rPr sz="1150">
                <a:solidFill>
                  <a:srgbClr val="1A232E"/>
                </a:solidFill>
                <a:latin typeface="Calibri"/>
              </a:rPr>
              <a:t>Mitigação: wipe via maskrom + flash Armbian auditável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A1F3D"/>
                </a:solidFill>
                <a:latin typeface="Calibri"/>
              </a:rPr>
              <a:t>▸ </a:t>
            </a:r>
            <a:r>
              <a:rPr sz="1150">
                <a:solidFill>
                  <a:srgbClr val="1A232E"/>
                </a:solidFill>
                <a:latin typeface="Calibri"/>
              </a:rPr>
              <a:t>Verificação pós-flash antes de qualquer tráfego de rede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4389120"/>
            <a:ext cx="41148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F9E75"/>
                </a:solidFill>
                <a:latin typeface="Cambria"/>
              </a:rPr>
              <a:t>antes do 1º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49560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o problema existe na cadeia, não na rede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532120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5815583"/>
            <a:ext cx="146304" cy="146304"/>
          </a:xfrm>
          <a:prstGeom prst="ellipse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5641848"/>
            <a:ext cx="9966959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FA8"/>
                </a:solidFill>
                <a:latin typeface="Calibri"/>
              </a:rPr>
              <a:t>Valor acadêmico.  </a:t>
            </a:r>
            <a:r>
              <a:rPr sz="1150" b="0" i="0">
                <a:solidFill>
                  <a:srgbClr val="1A232E"/>
                </a:solidFill>
                <a:latin typeface="Calibri"/>
              </a:rPr>
              <a:t>O dispositivo conecta computação básica (ARM, bootchain, eMMC) a segurança real (firmware pré-infectado).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EVOLUÇÃO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Linha do tempo do projeto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" y="3246120"/>
            <a:ext cx="9418320" cy="0"/>
          </a:xfrm>
          <a:prstGeom prst="line">
            <a:avLst/>
          </a:prstGeom>
          <a:ln w="31750">
            <a:solidFill>
              <a:srgbClr val="355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399032" y="3090672"/>
            <a:ext cx="310896" cy="310896"/>
          </a:xfrm>
          <a:prstGeom prst="ellipse">
            <a:avLst/>
          </a:prstGeom>
          <a:solidFill>
            <a:srgbClr val="8A1F3D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63239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7" y="2286000"/>
            <a:ext cx="2340864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TVBox OSS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611879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0A4BA"/>
                </a:solidFill>
                <a:latin typeface="Calibri"/>
              </a:rPr>
              <a:t>base inicial OSS</a:t>
            </a:r>
          </a:p>
        </p:txBody>
      </p:sp>
      <p:sp>
        <p:nvSpPr>
          <p:cNvPr id="12" name="Oval 11"/>
          <p:cNvSpPr/>
          <p:nvPr/>
        </p:nvSpPr>
        <p:spPr>
          <a:xfrm>
            <a:off x="3822191" y="3090672"/>
            <a:ext cx="310896" cy="310896"/>
          </a:xfrm>
          <a:prstGeom prst="ellipse">
            <a:avLst/>
          </a:prstGeom>
          <a:solidFill>
            <a:srgbClr val="2E6F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063239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7" y="2286000"/>
            <a:ext cx="2340864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OpenBox v0.1.0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611879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0A4BA"/>
                </a:solidFill>
                <a:latin typeface="Calibri"/>
              </a:rPr>
              <a:t>skeleton da pilha
de privacidade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2926079"/>
            <a:ext cx="640080" cy="640080"/>
          </a:xfrm>
          <a:prstGeom prst="ellipse">
            <a:avLst/>
          </a:prstGeom>
          <a:solidFill>
            <a:srgbClr val="0C2233"/>
          </a:solidFill>
          <a:ln w="25400">
            <a:solidFill>
              <a:srgbClr val="1F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rgbClr val="1F9E75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063239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286000"/>
            <a:ext cx="2340864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OpenBox v0.2.0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611879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0A4BA"/>
                </a:solidFill>
                <a:latin typeface="Calibri"/>
              </a:rPr>
              <a:t>retarget RK3229 ·
Armbian · Jellyfin</a:t>
            </a:r>
          </a:p>
        </p:txBody>
      </p:sp>
      <p:sp>
        <p:nvSpPr>
          <p:cNvPr id="21" name="Oval 20"/>
          <p:cNvSpPr/>
          <p:nvPr/>
        </p:nvSpPr>
        <p:spPr>
          <a:xfrm>
            <a:off x="8668512" y="3090672"/>
            <a:ext cx="310896" cy="310896"/>
          </a:xfrm>
          <a:prstGeom prst="ellipse">
            <a:avLst/>
          </a:prstGeom>
          <a:solidFill>
            <a:srgbClr val="2E6F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063239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2286000"/>
            <a:ext cx="2340864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ADV7Box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611879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0A4BA"/>
                </a:solidFill>
                <a:latin typeface="Calibri"/>
              </a:rPr>
              <a:t>consolidação
HTML + PDF</a:t>
            </a:r>
          </a:p>
        </p:txBody>
      </p:sp>
      <p:sp>
        <p:nvSpPr>
          <p:cNvPr id="25" name="Oval 24"/>
          <p:cNvSpPr/>
          <p:nvPr/>
        </p:nvSpPr>
        <p:spPr>
          <a:xfrm>
            <a:off x="10817352" y="3090672"/>
            <a:ext cx="310896" cy="310896"/>
          </a:xfrm>
          <a:prstGeom prst="ellipse">
            <a:avLst/>
          </a:prstGeom>
          <a:solidFill>
            <a:srgbClr val="E8A819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3063239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286000"/>
            <a:ext cx="2340864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AVAL01-IC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611879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0A4BA"/>
                </a:solidFill>
                <a:latin typeface="Calibri"/>
              </a:rPr>
              <a:t>pass acadêmico
AVFinal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212080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0704" y="5527548"/>
            <a:ext cx="146304" cy="146304"/>
          </a:xfrm>
          <a:prstGeom prst="ellipse">
            <a:avLst/>
          </a:prstGeom>
          <a:solidFill>
            <a:srgbClr val="1F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5321808"/>
            <a:ext cx="996695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9E75"/>
                </a:solidFill>
                <a:latin typeface="Calibri"/>
              </a:rPr>
              <a:t>Da prova de conceito à entrega.  </a:t>
            </a:r>
            <a:r>
              <a:rPr sz="1150" b="0" i="0">
                <a:solidFill>
                  <a:srgbClr val="CADCFC"/>
                </a:solidFill>
                <a:latin typeface="Calibri"/>
              </a:rPr>
              <a:t>A troca de RPi 4 por RK3229 provou que hardware reaproveitado de baixo custo sustenta uma pilha de segurança honesta.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0A4BA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0A4BA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Defesa em profundidade, dois pilares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11095" y="1783079"/>
            <a:ext cx="8522207" cy="19202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1874519"/>
            <a:ext cx="8339327" cy="17373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3840480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050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233"/>
                </a:solidFill>
                <a:latin typeface="Calibri"/>
              </a:rPr>
              <a:t>OpenBox — a borda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43984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9E75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WireGuard como única via de saída permitida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9E75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nftables: política + kill switch atômico (fwmark 51820)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9E75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DNS local e cifrado: dnscrypt-proxy + Unbound + Pi-hole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840480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050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8A1F3D"/>
                </a:solidFill>
                <a:latin typeface="Calibri"/>
              </a:rPr>
              <a:t>ADV7Sec — o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43984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A1F3D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auditd, Falco, Suricata e Zeek agregados localmente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A1F3D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Plano de detecção — observa, nunca bloqueia (preview-first)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A1F3D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Logs em journald, sem SIEM e sem sink externo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FLUXO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Do cliente à Internet, sem vazar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3956" y="1783079"/>
            <a:ext cx="9016487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96" y="1874519"/>
            <a:ext cx="8833607" cy="20574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68680" y="4251960"/>
            <a:ext cx="329184" cy="329184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329184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A819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251960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232E"/>
                </a:solidFill>
                <a:latin typeface="Calibri"/>
              </a:rPr>
              <a:t>Cliente solicita acesso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4251960"/>
            <a:ext cx="329184" cy="329184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251960"/>
            <a:ext cx="329184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A819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251960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232E"/>
                </a:solidFill>
                <a:latin typeface="Calibri"/>
              </a:rPr>
              <a:t>OpenBox intercepta o DNS</a:t>
            </a:r>
          </a:p>
        </p:txBody>
      </p:sp>
      <p:sp>
        <p:nvSpPr>
          <p:cNvPr id="14" name="Oval 13"/>
          <p:cNvSpPr/>
          <p:nvPr/>
        </p:nvSpPr>
        <p:spPr>
          <a:xfrm>
            <a:off x="8275319" y="4251960"/>
            <a:ext cx="329184" cy="329184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4251960"/>
            <a:ext cx="329184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A819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4251960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232E"/>
                </a:solidFill>
                <a:latin typeface="Calibri"/>
              </a:rPr>
              <a:t>dnscrypt-proxy + Unbound resolvem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818888"/>
            <a:ext cx="329184" cy="329184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18888"/>
            <a:ext cx="329184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A819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18888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232E"/>
                </a:solidFill>
                <a:latin typeface="Calibri"/>
              </a:rPr>
              <a:t>WireGuard encapsula o tráfego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4818888"/>
            <a:ext cx="329184" cy="329184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818888"/>
            <a:ext cx="329184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A819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818888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232E"/>
                </a:solidFill>
                <a:latin typeface="Calibri"/>
              </a:rPr>
              <a:t>nftables bloqueia se a VPN cair</a:t>
            </a:r>
          </a:p>
        </p:txBody>
      </p:sp>
      <p:sp>
        <p:nvSpPr>
          <p:cNvPr id="23" name="Oval 22"/>
          <p:cNvSpPr/>
          <p:nvPr/>
        </p:nvSpPr>
        <p:spPr>
          <a:xfrm>
            <a:off x="8275319" y="4818888"/>
            <a:ext cx="329184" cy="329184"/>
          </a:xfrm>
          <a:prstGeom prst="ellipse">
            <a:avLst/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4818888"/>
            <a:ext cx="329184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8A819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19" y="4818888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232E"/>
                </a:solidFill>
                <a:latin typeface="Calibri"/>
              </a:rPr>
              <a:t>ADV7Sec coleta e alerta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50992"/>
            <a:ext cx="10698480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5897879"/>
            <a:ext cx="146304" cy="146304"/>
          </a:xfrm>
          <a:prstGeom prst="ellipse">
            <a:avLst/>
          </a:prstGeom>
          <a:solidFill>
            <a:srgbClr val="1F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9888" y="5760720"/>
            <a:ext cx="9966959" cy="4206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9E75"/>
                </a:solidFill>
                <a:latin typeface="Calibri"/>
              </a:rPr>
              <a:t>Critério.  </a:t>
            </a:r>
            <a:r>
              <a:rPr sz="1150" b="0" i="0">
                <a:solidFill>
                  <a:srgbClr val="1A232E"/>
                </a:solidFill>
                <a:latin typeface="Calibri"/>
              </a:rPr>
              <a:t>Se a rede cai, nada sai. O kill switch é atômico e mantém allowlist apenas para o endpoint da VPN.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RISCO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Modelo de ameaça e matriz de risco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20240"/>
          <a:ext cx="576072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55448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Falha</a:t>
                      </a:r>
                    </a:p>
                  </a:txBody>
                  <a:tcPr marL="73152" marR="45720" marT="27432" marB="27432" anchor="ctr">
                    <a:solidFill>
                      <a:srgbClr val="0C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marL="73152" marR="45720" marT="27432" marB="27432" anchor="ctr">
                    <a:solidFill>
                      <a:srgbClr val="0C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Nota</a:t>
                      </a:r>
                    </a:p>
                  </a:txBody>
                  <a:tcPr marL="73152" marR="45720" marT="27432" marB="27432" anchor="ctr">
                    <a:solidFill>
                      <a:srgbClr val="0C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Queima do gateway / energia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Erro de config. do firewall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DDoS / interceptação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Rede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Vazamento de DNS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Rede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Médio/Alto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49770" y="1783079"/>
            <a:ext cx="472561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_risk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210" y="1874519"/>
            <a:ext cx="4542739" cy="2468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440680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0704" y="5756148"/>
            <a:ext cx="146304" cy="146304"/>
          </a:xfrm>
          <a:prstGeom prst="ellipse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5550408"/>
            <a:ext cx="9966959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E6FA8"/>
                </a:solidFill>
                <a:latin typeface="Calibri"/>
              </a:rPr>
              <a:t>3 categorias, mitigação específica.  </a:t>
            </a:r>
            <a:r>
              <a:rPr sz="1150" b="0" i="0">
                <a:solidFill>
                  <a:srgbClr val="1A232E"/>
                </a:solidFill>
                <a:latin typeface="Calibri"/>
              </a:rPr>
              <a:t>Hardware, software e rede mantidas distintas para priorizar controles — não respostas genéricas. Adversário estatal e acesso físico ficam fora do escopo.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MITIGAÇÃO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Plano de hardening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185415"/>
            <a:ext cx="512064" cy="512064"/>
          </a:xfrm>
          <a:prstGeom prst="ellipse">
            <a:avLst/>
          </a:prstGeom>
          <a:solidFill>
            <a:srgbClr val="8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40279"/>
            <a:ext cx="512064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167128"/>
            <a:ext cx="429768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32E"/>
                </a:solidFill>
                <a:latin typeface="Calibri"/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532888"/>
            <a:ext cx="425196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UPS, backup de configuração, imagem de recuperação e equipamento reserva.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65392" y="2185415"/>
            <a:ext cx="512064" cy="512064"/>
          </a:xfrm>
          <a:prstGeom prst="ellipse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240279"/>
            <a:ext cx="512064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67128"/>
            <a:ext cx="429768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32E"/>
                </a:solidFill>
                <a:latin typeface="Calibri"/>
              </a:rP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2532888"/>
            <a:ext cx="425196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Git e rollback, validação de configuração e testes automatizados antes e depois.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4197095"/>
            <a:ext cx="512064" cy="512064"/>
          </a:xfrm>
          <a:prstGeom prst="ellipse">
            <a:avLst/>
          </a:prstGeom>
          <a:solidFill>
            <a:srgbClr val="1F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51959"/>
            <a:ext cx="512064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178807"/>
            <a:ext cx="429768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32E"/>
                </a:solidFill>
                <a:latin typeface="Calibri"/>
              </a:rPr>
              <a:t>Rede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544568"/>
            <a:ext cx="425196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Firewall, VLAN, VPN obrigatória, DNS criptografado e rate limiting.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77639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4197095"/>
            <a:ext cx="512064" cy="512064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251959"/>
            <a:ext cx="512064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4178807"/>
            <a:ext cx="429768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32E"/>
                </a:solidFill>
                <a:latin typeface="Calibri"/>
              </a:rPr>
              <a:t>Integridade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4544568"/>
            <a:ext cx="425196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AIDE e RKHunter, logs e alertas por ntfy sobre arquivos críticos.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806440"/>
            <a:ext cx="10698480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6053327"/>
            <a:ext cx="146304" cy="146304"/>
          </a:xfrm>
          <a:prstGeom prst="ellipse">
            <a:avLst/>
          </a:prstGeom>
          <a:solidFill>
            <a:srgbClr val="1F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9888" y="5916168"/>
            <a:ext cx="9966959" cy="4206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9E75"/>
                </a:solidFill>
                <a:latin typeface="Calibri"/>
              </a:rPr>
              <a:t>Sem composições frágeis.  </a:t>
            </a:r>
            <a:r>
              <a:rPr sz="1150" b="0" i="0">
                <a:solidFill>
                  <a:srgbClr val="1A232E"/>
                </a:solidFill>
                <a:latin typeface="Calibri"/>
              </a:rPr>
              <a:t>Não se mistura UFW com nftables, nem se assume que o Tor sustenta streaming — Tor só para metadados.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DETECÇÃO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ADV7Sec — telemetria host-side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20240"/>
          <a:ext cx="667512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3383280"/>
                <a:gridCol w="182880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marL="73152" marR="45720" marT="27432" marB="27432" anchor="ctr">
                    <a:solidFill>
                      <a:srgbClr val="0C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 que observa</a:t>
                      </a:r>
                    </a:p>
                  </a:txBody>
                  <a:tcPr marL="73152" marR="45720" marT="27432" marB="27432" anchor="ctr">
                    <a:solidFill>
                      <a:srgbClr val="0C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Saída</a:t>
                      </a:r>
                    </a:p>
                  </a:txBody>
                  <a:tcPr marL="73152" marR="45720" marT="27432" marB="27432" anchor="ctr">
                    <a:solidFill>
                      <a:srgbClr val="0C22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auditd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syscalls e arquivos sensíveis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log estruturado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Falco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processos e rede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alerta + JSON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Suricata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assinaturas de rede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EVE JSON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Zeek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sessões e metadados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conn.log</a:t>
                      </a:r>
                    </a:p>
                  </a:txBody>
                  <a:tcPr marL="73152" marR="45720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32E"/>
                          </a:solidFill>
                          <a:latin typeface="Calibri"/>
                        </a:rPr>
                        <a:t>AIDE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integridade de arquivos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32E"/>
                          </a:solidFill>
                          <a:latin typeface="Calibri"/>
                        </a:rPr>
                        <a:t>baseline / diff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920240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103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9E75"/>
                </a:solidFill>
                <a:latin typeface="Calibri"/>
              </a:rPr>
              <a:t>Preview-first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51460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9E75"/>
                </a:solidFill>
                <a:latin typeface="Calibri"/>
              </a:rPr>
              <a:t>▸ </a:t>
            </a:r>
            <a:r>
              <a:rPr sz="1150">
                <a:solidFill>
                  <a:srgbClr val="1A232E"/>
                </a:solidFill>
                <a:latin typeface="Calibri"/>
              </a:rPr>
              <a:t>Mostra o que faria antes de agir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9E75"/>
                </a:solidFill>
                <a:latin typeface="Calibri"/>
              </a:rPr>
              <a:t>▸ </a:t>
            </a:r>
            <a:r>
              <a:rPr sz="1150">
                <a:solidFill>
                  <a:srgbClr val="1A232E"/>
                </a:solidFill>
                <a:latin typeface="Calibri"/>
              </a:rPr>
              <a:t>Detecção, não bloqueio ativo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9E75"/>
                </a:solidFill>
                <a:latin typeface="Calibri"/>
              </a:rPr>
              <a:t>▸ </a:t>
            </a:r>
            <a:r>
              <a:rPr sz="1150">
                <a:solidFill>
                  <a:srgbClr val="1A232E"/>
                </a:solidFill>
                <a:latin typeface="Calibri"/>
              </a:rPr>
              <a:t>Favorece estudo e depuração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440680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5724144"/>
            <a:ext cx="146304" cy="146304"/>
          </a:xfrm>
          <a:prstGeom prst="ellipse">
            <a:avLst/>
          </a:prstGeom>
          <a:solidFill>
            <a:srgbClr val="8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5550408"/>
            <a:ext cx="9966959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A1F3D"/>
                </a:solidFill>
                <a:latin typeface="Calibri"/>
              </a:rPr>
              <a:t>Útil quando a ameaça passou da borda.  </a:t>
            </a:r>
            <a:r>
              <a:rPr sz="1150" b="0" i="0">
                <a:solidFill>
                  <a:srgbClr val="1A232E"/>
                </a:solidFill>
                <a:latin typeface="Calibri"/>
              </a:rPr>
              <a:t>Visão coerente de comportamento anômalo no endpoint, com normalização e alertas locais.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Runbook, validação e evidências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C2233"/>
                </a:solidFill>
                <a:latin typeface="Calibri"/>
              </a:rPr>
              <a:t>Healthchecks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303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>
                <a:solidFill>
                  <a:srgbClr val="1A232E"/>
                </a:solidFill>
                <a:latin typeface="Consolas"/>
              </a:rPr>
              <a:t>$ systemctl status wg-quick@wg0 …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>
                <a:solidFill>
                  <a:srgbClr val="1A232E"/>
                </a:solidFill>
                <a:latin typeface="Consolas"/>
              </a:rPr>
              <a:t>$ curl -4 https://ifconfig.io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>
                <a:solidFill>
                  <a:srgbClr val="1A232E"/>
                </a:solidFill>
                <a:latin typeface="Consolas"/>
              </a:rPr>
              <a:t>$ openbox-dnsleak-check.sh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>
                <a:solidFill>
                  <a:srgbClr val="1A232E"/>
                </a:solidFill>
                <a:latin typeface="Consolas"/>
              </a:rPr>
              <a:t>$ lynis audit system --quick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C2233"/>
                </a:solidFill>
                <a:latin typeface="Calibri"/>
              </a:rPr>
              <a:t>Artefatos versionados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6FA8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README.md — visão geral e diferenças do TVBox OSS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6FA8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CHANGELOG.md — histórico v0.1.0 → v0.2.0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6FA8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THREAT_MODEL.md — adversários e fronteiras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6FA8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RK3229_THREAT_RESEARCH.md — cadeia de suprimento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6FA8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RUNBOOK.md — operação e troubleshooting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6FA8"/>
                </a:solidFill>
                <a:latin typeface="Calibri"/>
              </a:rPr>
              <a:t>▸ </a:t>
            </a:r>
            <a:r>
              <a:rPr sz="1200">
                <a:solidFill>
                  <a:srgbClr val="1A232E"/>
                </a:solidFill>
                <a:latin typeface="Calibri"/>
              </a:rPr>
              <a:t>OBSIDIAN_VAULT.md — trilha de execução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521208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9E75"/>
                </a:solidFill>
                <a:latin typeface="Cambria"/>
              </a:rPr>
              <a:t>14 págs · 3 formatos · 5 figuras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18888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documentação reprodutível e auditável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Borda mais segura, auditável e replicável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E8A819"/>
                </a:solidFill>
                <a:latin typeface="Calibri"/>
              </a:rPr>
              <a:t>Direcionamento de carreira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Forte viés </a:t>
            </a:r>
            <a:r>
              <a:rPr sz="1400" b="1" i="0">
                <a:solidFill>
                  <a:srgbClr val="1F9E75"/>
                </a:solidFill>
                <a:latin typeface="Calibri"/>
              </a:rPr>
              <a:t>Blue Team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: hardening, observabilidade, resposta a incidentes e documentação técnica.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Compatível com SOC, administração de redes, segurança de sistemas e engenharia de plataformas.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90A4BA"/>
                </a:solidFill>
                <a:latin typeface="Calibri"/>
              </a:rPr>
              <a:t>Evolui para automação maior, análise de alertas e inteligência local em semestres futuros.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0063" y="2150364"/>
            <a:ext cx="4279392" cy="1094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5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278380"/>
            <a:ext cx="4023360" cy="838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3840480"/>
            <a:ext cx="384048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9E75"/>
                </a:solidFill>
                <a:latin typeface="Cambria"/>
              </a:rPr>
              <a:t>&lt; R$ 1.000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407408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custo de entrada do laboratório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4924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5710427"/>
            <a:ext cx="146304" cy="146304"/>
          </a:xfrm>
          <a:prstGeom prst="ellipse">
            <a:avLst/>
          </a:prstGeom>
          <a:solidFill>
            <a:srgbClr val="1F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5458968"/>
            <a:ext cx="9966959" cy="6492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9E75"/>
                </a:solidFill>
                <a:latin typeface="Calibri"/>
              </a:rPr>
              <a:t>Em termos acadêmicos e práticos.  </a:t>
            </a:r>
            <a:r>
              <a:rPr sz="1150" b="0" i="0">
                <a:solidFill>
                  <a:srgbClr val="CADCFC"/>
                </a:solidFill>
                <a:latin typeface="Calibri"/>
              </a:rPr>
              <a:t>Estuda um cenário real, justifica a tecnologia e demonstra defesa — entregando uma borda residencial compreensível e verificável.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1069848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Obrigado.  </a:t>
            </a:r>
            <a:r>
              <a:rPr sz="1100" b="0" i="0">
                <a:solidFill>
                  <a:srgbClr val="90A4BA"/>
                </a:solidFill>
                <a:latin typeface="Calibri"/>
              </a:rPr>
              <a:t>Alcides Olivo Pollazzon Soterio · UniCEUB · Introdução à Computação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ANEXO ·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Estruturas da placa — face superior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8703" y="1737360"/>
            <a:ext cx="272891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t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43" y="1828800"/>
            <a:ext cx="2546032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874519"/>
            <a:ext cx="7132320" cy="448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1  </a:t>
            </a:r>
            <a:r>
              <a:rPr sz="1300">
                <a:solidFill>
                  <a:srgbClr val="1A232E"/>
                </a:solidFill>
                <a:latin typeface="Calibri"/>
              </a:rPr>
              <a:t>eMMC Samsung KLM8G1GETF — 8 GB (armazenamento)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B5651D"/>
                </a:solidFill>
                <a:latin typeface="Calibri"/>
              </a:rPr>
              <a:t>2  </a:t>
            </a:r>
            <a:r>
              <a:rPr sz="1300">
                <a:solidFill>
                  <a:srgbClr val="1A232E"/>
                </a:solidFill>
                <a:latin typeface="Calibri"/>
              </a:rPr>
              <a:t>R-série — resistores no barramento eMMC (tap)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B5651D"/>
                </a:solidFill>
                <a:latin typeface="Calibri"/>
              </a:rPr>
              <a:t>3  </a:t>
            </a:r>
            <a:r>
              <a:rPr sz="1300">
                <a:solidFill>
                  <a:srgbClr val="1A232E"/>
                </a:solidFill>
                <a:latin typeface="Calibri"/>
              </a:rPr>
              <a:t>Trilha CLK (breakout) — short p/ maskrom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9E75"/>
                </a:solidFill>
                <a:latin typeface="Calibri"/>
              </a:rPr>
              <a:t>4  </a:t>
            </a:r>
            <a:r>
              <a:rPr sz="1300">
                <a:solidFill>
                  <a:srgbClr val="1A232E"/>
                </a:solidFill>
                <a:latin typeface="Calibri"/>
              </a:rPr>
              <a:t>QFN-44 SVS6Z56F / TAC2121 — PHY/interface (provável)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9E75"/>
                </a:solidFill>
                <a:latin typeface="Calibri"/>
              </a:rPr>
              <a:t>5  </a:t>
            </a:r>
            <a:r>
              <a:rPr sz="1300">
                <a:solidFill>
                  <a:srgbClr val="1A232E"/>
                </a:solidFill>
                <a:latin typeface="Calibri"/>
              </a:rPr>
              <a:t>PPT PM44-11BP — driver/MOSFET de potência (provável)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819"/>
                </a:solidFill>
                <a:latin typeface="Calibri"/>
              </a:rPr>
              <a:t>6  </a:t>
            </a:r>
            <a:r>
              <a:rPr sz="1300">
                <a:solidFill>
                  <a:srgbClr val="1A232E"/>
                </a:solidFill>
                <a:latin typeface="Calibri"/>
              </a:rPr>
              <a:t>Capacitor eletrolítico CK 100 µF — filtro de entrada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819"/>
                </a:solidFill>
                <a:latin typeface="Calibri"/>
              </a:rPr>
              <a:t>7  </a:t>
            </a:r>
            <a:r>
              <a:rPr sz="1300">
                <a:solidFill>
                  <a:srgbClr val="1A232E"/>
                </a:solidFill>
                <a:latin typeface="Calibri"/>
              </a:rPr>
              <a:t>LDO AMS1117 (1117C) — regulador 3,3 V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819"/>
                </a:solidFill>
                <a:latin typeface="Calibri"/>
              </a:rPr>
              <a:t>8  </a:t>
            </a:r>
            <a:r>
              <a:rPr sz="1300">
                <a:solidFill>
                  <a:srgbClr val="1A232E"/>
                </a:solidFill>
                <a:latin typeface="Calibri"/>
              </a:rPr>
              <a:t>Buck 3R3 (3,3 µH) ×2 — trilhos de núcleo/DDR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C2233"/>
                </a:solidFill>
                <a:latin typeface="Calibri"/>
              </a:rPr>
              <a:t>9  </a:t>
            </a:r>
            <a:r>
              <a:rPr sz="1300">
                <a:solidFill>
                  <a:srgbClr val="1A232E"/>
                </a:solidFill>
                <a:latin typeface="Calibri"/>
              </a:rPr>
              <a:t>SoC Rockchip RK3229 — sob o dissipador (família rk322x)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8A1F3D"/>
                </a:solidFill>
                <a:latin typeface="Calibri"/>
              </a:rPr>
              <a:t>10  </a:t>
            </a:r>
            <a:r>
              <a:rPr sz="1300">
                <a:solidFill>
                  <a:srgbClr val="1A232E"/>
                </a:solidFill>
                <a:latin typeface="Calibri"/>
              </a:rPr>
              <a:t>Header serial R / T / G — console UART de depuração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ANEXO ·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232E"/>
                </a:solidFill>
                <a:latin typeface="Cambria"/>
              </a:rPr>
              <a:t>Memória, face inferior e portas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499" y="1737360"/>
            <a:ext cx="42468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te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39" y="1828800"/>
            <a:ext cx="4064000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88059" y="4224528"/>
            <a:ext cx="39217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te_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4315968"/>
            <a:ext cx="3738879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7840" y="1874519"/>
            <a:ext cx="6126480" cy="457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6FA8"/>
                </a:solidFill>
                <a:latin typeface="Calibri"/>
              </a:rPr>
              <a:t>11–12  </a:t>
            </a:r>
            <a:r>
              <a:rPr sz="1250">
                <a:solidFill>
                  <a:srgbClr val="1A232E"/>
                </a:solidFill>
                <a:latin typeface="Calibri"/>
              </a:rPr>
              <a:t>DRAM Hynix H5TQ2G43BFR (DDR3) — 4 chips ≈ 1 GB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8A819"/>
                </a:solidFill>
                <a:latin typeface="Calibri"/>
              </a:rPr>
              <a:t>13  </a:t>
            </a:r>
            <a:r>
              <a:rPr sz="1250">
                <a:solidFill>
                  <a:srgbClr val="1A232E"/>
                </a:solidFill>
                <a:latin typeface="Calibri"/>
              </a:rPr>
              <a:t>Rede de resistores — terminação/strap do DDR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8A819"/>
                </a:solidFill>
                <a:latin typeface="Calibri"/>
              </a:rPr>
              <a:t>14  </a:t>
            </a:r>
            <a:r>
              <a:rPr sz="1250">
                <a:solidFill>
                  <a:srgbClr val="1A232E"/>
                </a:solidFill>
                <a:latin typeface="Calibri"/>
              </a:rPr>
              <a:t>LDO 1117 (face inferior) — regulador auxiliar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6FA8"/>
                </a:solidFill>
                <a:latin typeface="Calibri"/>
              </a:rPr>
              <a:t>15  </a:t>
            </a:r>
            <a:r>
              <a:rPr sz="1250">
                <a:solidFill>
                  <a:srgbClr val="1A232E"/>
                </a:solidFill>
                <a:latin typeface="Calibri"/>
              </a:rPr>
              <a:t>Footprint BGA vazio — posição NAND/eMMC alternativa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B5651D"/>
                </a:solidFill>
                <a:latin typeface="Calibri"/>
              </a:rPr>
              <a:t>16  </a:t>
            </a:r>
            <a:r>
              <a:rPr sz="1250">
                <a:solidFill>
                  <a:srgbClr val="1A232E"/>
                </a:solidFill>
                <a:latin typeface="Calibri"/>
              </a:rPr>
              <a:t>Cristal/oscilador — referência de clock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9E75"/>
                </a:solidFill>
                <a:latin typeface="Calibri"/>
              </a:rPr>
              <a:t>17  </a:t>
            </a:r>
            <a:r>
              <a:rPr sz="1250">
                <a:solidFill>
                  <a:srgbClr val="1A232E"/>
                </a:solidFill>
                <a:latin typeface="Calibri"/>
              </a:rPr>
              <a:t>USB-A — porta host USB 2.0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9E75"/>
                </a:solidFill>
                <a:latin typeface="Calibri"/>
              </a:rPr>
              <a:t>18–19  </a:t>
            </a:r>
            <a:r>
              <a:rPr sz="1250">
                <a:solidFill>
                  <a:srgbClr val="1A232E"/>
                </a:solidFill>
                <a:latin typeface="Calibri"/>
              </a:rPr>
              <a:t>AV 3,5 mm — saídas CVBS/áudio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9E75"/>
                </a:solidFill>
                <a:latin typeface="Calibri"/>
              </a:rPr>
              <a:t>20  </a:t>
            </a:r>
            <a:r>
              <a:rPr sz="1250">
                <a:solidFill>
                  <a:srgbClr val="1A232E"/>
                </a:solidFill>
                <a:latin typeface="Calibri"/>
              </a:rPr>
              <a:t>HDMI — saída de vídeo digital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9E75"/>
                </a:solidFill>
                <a:latin typeface="Calibri"/>
              </a:rPr>
              <a:t>21  </a:t>
            </a:r>
            <a:r>
              <a:rPr sz="1250">
                <a:solidFill>
                  <a:srgbClr val="1A232E"/>
                </a:solidFill>
                <a:latin typeface="Calibri"/>
              </a:rPr>
              <a:t>RJ45 — Ethernet 10/100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8A819"/>
                </a:solidFill>
                <a:latin typeface="Calibri"/>
              </a:rPr>
              <a:t>22  </a:t>
            </a:r>
            <a:r>
              <a:rPr sz="1250">
                <a:solidFill>
                  <a:srgbClr val="1A232E"/>
                </a:solidFill>
                <a:latin typeface="Calibri"/>
              </a:rPr>
              <a:t>DC jack — entrada de alimentação 5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5715000"/>
            <a:ext cx="612648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15583" y="6030468"/>
            <a:ext cx="146304" cy="146304"/>
          </a:xfrm>
          <a:prstGeom prst="ellipse">
            <a:avLst/>
          </a:prstGeom>
          <a:solidFill>
            <a:srgbClr val="8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5824728"/>
            <a:ext cx="5394960" cy="5577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A1F3D"/>
                </a:solidFill>
                <a:latin typeface="Calibri"/>
              </a:rPr>
              <a:t>Privacidade &amp; flash.  </a:t>
            </a:r>
            <a:r>
              <a:rPr sz="1150" b="0" i="0">
                <a:solidFill>
                  <a:srgbClr val="1A232E"/>
                </a:solidFill>
                <a:latin typeface="Calibri"/>
              </a:rPr>
              <a:t>MAC redigido na face inferior; o micro-USB OTG é a porta usada para o flash via maskrom.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A8C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C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9224" y="557784"/>
            <a:ext cx="566928" cy="566928"/>
          </a:xfrm>
          <a:prstGeom prst="ellipse">
            <a:avLst/>
          </a:prstGeom>
          <a:solidFill>
            <a:srgbClr val="E8A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548640" cy="4114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233"/>
                </a:solidFill>
                <a:latin typeface="Calibri"/>
              </a:rPr>
              <a:t>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48640"/>
            <a:ext cx="9601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819"/>
                </a:solidFill>
                <a:latin typeface="Calibri"/>
              </a:rPr>
              <a:t>ANEXO · PROCEDIMENTO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804672"/>
            <a:ext cx="10058400" cy="6400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Fase de flash e SSH (rk322x)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" y="1975103"/>
            <a:ext cx="5971032" cy="2724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m_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715000" cy="2468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27064" y="1905609"/>
            <a:ext cx="5742432" cy="32296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rm_s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33625"/>
            <a:ext cx="5486400" cy="29736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577840"/>
            <a:ext cx="10927080" cy="841248"/>
          </a:xfrm>
          <a:prstGeom prst="roundRect">
            <a:avLst>
              <a:gd name="adj" fmla="val 8000"/>
            </a:avLst>
          </a:prstGeom>
          <a:solidFill>
            <a:srgbClr val="123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5925312"/>
            <a:ext cx="146304" cy="146304"/>
          </a:xfrm>
          <a:prstGeom prst="ellipse">
            <a:avLst/>
          </a:prstGeom>
          <a:solidFill>
            <a:srgbClr val="1F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5687568"/>
            <a:ext cx="10195559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9E75"/>
                </a:solidFill>
                <a:latin typeface="Calibri"/>
              </a:rPr>
              <a:t>Reconstrução do procedimento documentado.  </a:t>
            </a:r>
            <a:r>
              <a:rPr sz="1150" b="0" i="0">
                <a:solidFill>
                  <a:srgbClr val="CADCFC"/>
                </a:solidFill>
                <a:latin typeface="Calibri"/>
              </a:rPr>
              <a:t>Valores reais do projeto — placa R3290_V8.1 · Armbian rk322x-box · host 192.168.0.103 · Phase 0 PASS (4/4). Sequência: maskrom → rkdeveloptool → boot → SSH por chave.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0A4BA"/>
                </a:solidFill>
                <a:latin typeface="Calibri"/>
              </a:rPr>
              <a:t>OpenBox v0.2.0  ·  UniCEUB · Introdução à Computação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55664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0A4BA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